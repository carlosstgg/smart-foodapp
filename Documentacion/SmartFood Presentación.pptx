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layfair Display"/>
      <p:regular r:id="rId14"/>
      <p:bold r:id="rId15"/>
      <p:italic r:id="rId16"/>
      <p:boldItalic r:id="rId17"/>
    </p:embeddedFont>
    <p:embeddedFont>
      <p:font typeface="Outfit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bold.fntdata"/><Relationship Id="rId14" Type="http://schemas.openxmlformats.org/officeDocument/2006/relationships/font" Target="fonts/PlayfairDisplay-regular.fntdata"/><Relationship Id="rId17" Type="http://schemas.openxmlformats.org/officeDocument/2006/relationships/font" Target="fonts/PlayfairDisplay-boldItalic.fntdata"/><Relationship Id="rId16" Type="http://schemas.openxmlformats.org/officeDocument/2006/relationships/font" Target="fonts/PlayfairDispl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utfit-bold.fntdata"/><Relationship Id="rId6" Type="http://schemas.openxmlformats.org/officeDocument/2006/relationships/slide" Target="slides/slide1.xml"/><Relationship Id="rId18" Type="http://schemas.openxmlformats.org/officeDocument/2006/relationships/font" Target="fonts/Outfi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11" Type="http://schemas.openxmlformats.org/officeDocument/2006/relationships/image" Target="../media/image19.png"/><Relationship Id="rId10" Type="http://schemas.openxmlformats.org/officeDocument/2006/relationships/image" Target="../media/image25.png"/><Relationship Id="rId9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190750" y="2735609"/>
            <a:ext cx="7810500" cy="1386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No se puede mejorar lo que no se puede medir.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619250" y="2164109"/>
            <a:ext cx="466576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A7F3D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106177" y="3588992"/>
            <a:ext cx="466576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A7F3D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838325"/>
            <a:ext cx="52292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81025" y="2213074"/>
            <a:ext cx="5229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Todos estamos familiarizados con el concepto de los </a:t>
            </a:r>
            <a:r>
              <a:rPr b="1" i="0" lang="en-US" sz="1650" u="none" cap="none" strike="noStrike">
                <a:solidFill>
                  <a:srgbClr val="047857"/>
                </a:solidFill>
                <a:latin typeface="Outfit"/>
                <a:ea typeface="Outfit"/>
                <a:cs typeface="Outfit"/>
                <a:sym typeface="Outfit"/>
              </a:rPr>
              <a:t>"gastos hormiga"</a:t>
            </a: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057275" y="3121521"/>
            <a:ext cx="47529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Pequeños desvíos monetarios diarios.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057275" y="3694807"/>
            <a:ext cx="47529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Pasan desapercibidos en la rutina.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057275" y="4268092"/>
            <a:ext cx="47529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Tienen un </a:t>
            </a:r>
            <a:r>
              <a:rPr b="1" i="0" lang="en-US" sz="1650" u="none" cap="none" strike="noStrike">
                <a:solidFill>
                  <a:srgbClr val="047857"/>
                </a:solidFill>
                <a:latin typeface="Outfit"/>
                <a:ea typeface="Outfit"/>
                <a:cs typeface="Outfit"/>
                <a:sym typeface="Outfit"/>
              </a:rPr>
              <a:t>gran impacto</a:t>
            </a: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 al final del mes.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57275" y="4841378"/>
            <a:ext cx="47529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Falta de consciencia sobre lo que realmente gastamos.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38325"/>
            <a:ext cx="52292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159621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73290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3061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879478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81025" y="5810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 Problema Invisible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81025" y="1285875"/>
            <a:ext cx="11029950" cy="190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838325"/>
            <a:ext cx="52292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626048"/>
            <a:ext cx="5229225" cy="190678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6381750" y="2430065"/>
            <a:ext cx="52292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La falta de tiempo, conocimiento o interés nos lleva a recurrir frecuentemente a </a:t>
            </a:r>
            <a:r>
              <a:rPr b="1" i="0" lang="en-US" sz="1650" u="none" cap="none" strike="noStrike">
                <a:solidFill>
                  <a:srgbClr val="047857"/>
                </a:solidFill>
                <a:latin typeface="Outfit"/>
                <a:ea typeface="Outfit"/>
                <a:cs typeface="Outfit"/>
                <a:sym typeface="Outfit"/>
              </a:rPr>
              <a:t>aplicaciones de entrega de comida</a:t>
            </a: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838325"/>
            <a:ext cx="52292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6619875" y="3816548"/>
            <a:ext cx="4800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91C1C"/>
                </a:solidFill>
                <a:latin typeface="Outfit"/>
                <a:ea typeface="Outfit"/>
                <a:cs typeface="Outfit"/>
                <a:sym typeface="Outfit"/>
              </a:rPr>
              <a:t>Doble Impacto Negativo: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619875" y="4149923"/>
            <a:ext cx="4800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47857"/>
                </a:solidFill>
                <a:latin typeface="Outfit"/>
                <a:ea typeface="Outfit"/>
                <a:cs typeface="Outfit"/>
                <a:sym typeface="Outfit"/>
              </a:rPr>
              <a:t>1. Económico:</a:t>
            </a:r>
            <a:r>
              <a:rPr b="0" i="0" lang="en-US" sz="13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 Precios inflados y costos de envío que afectan tu bolsillo.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619875" y="4746128"/>
            <a:ext cx="4800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47857"/>
                </a:solidFill>
                <a:latin typeface="Outfit"/>
                <a:ea typeface="Outfit"/>
                <a:cs typeface="Outfit"/>
                <a:sym typeface="Outfit"/>
              </a:rPr>
              <a:t>2. Alimenticio:</a:t>
            </a:r>
            <a:r>
              <a:rPr b="0" i="0" lang="en-US" sz="13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 Opciones menos saludables que descuidan tu dieta diaria.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384512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81025" y="5810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 Hábito Cotidiano que Cuesta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81025" y="1285875"/>
            <a:ext cx="11029950" cy="190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838325"/>
            <a:ext cx="52292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81025" y="2020788"/>
            <a:ext cx="52292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Nuestra aplicación nace para solucionar este problema de raíz. Transformamos la manera en la que gestionas tus recursos.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057275" y="3216771"/>
            <a:ext cx="47529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47857"/>
                </a:solidFill>
                <a:latin typeface="Outfit"/>
                <a:ea typeface="Outfit"/>
                <a:cs typeface="Outfit"/>
                <a:sym typeface="Outfit"/>
              </a:rPr>
              <a:t>Gestión Integral:</a:t>
            </a: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 Monitoreo de tus alimentos y control de tu presupuesto en un solo lugar.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057275" y="4125217"/>
            <a:ext cx="47529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47857"/>
                </a:solidFill>
                <a:latin typeface="Outfit"/>
                <a:ea typeface="Outfit"/>
                <a:cs typeface="Outfit"/>
                <a:sym typeface="Outfit"/>
              </a:rPr>
              <a:t>Menos Desperdicios:</a:t>
            </a: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 Aprovechamos al máximo lo que ya tienes.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057275" y="5033664"/>
            <a:ext cx="47529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47857"/>
                </a:solidFill>
                <a:latin typeface="Outfit"/>
                <a:ea typeface="Outfit"/>
                <a:cs typeface="Outfit"/>
                <a:sym typeface="Outfit"/>
              </a:rPr>
              <a:t>Optimización:</a:t>
            </a: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 Evitamos compras innecesarias e impulsamos el ahorro.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38325"/>
            <a:ext cx="52292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254871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6331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071764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81025" y="5810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Ahí es donde entra SmartFood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81025" y="1285875"/>
            <a:ext cx="11029950" cy="190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374552"/>
            <a:ext cx="3486150" cy="3194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2925" y="2374552"/>
            <a:ext cx="3486150" cy="3194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4825" y="2374552"/>
            <a:ext cx="3486150" cy="3194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43100" y="276507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1729025" y="3860452"/>
            <a:ext cx="119014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Medimos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76300" y="4355752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Monitoreo preciso de gastos y registro de los alimentos disponibles que el usuario nos proporciona.</a:t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0" y="276507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245893" y="3860452"/>
            <a:ext cx="170021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Controlamos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648200" y="4355752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Prevención activa de desperdicios alimenticios y un freno real a los gastos innecesarios.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86900" y="276507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9142809" y="3860452"/>
            <a:ext cx="145018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Mejoramos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420100" y="4355752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Optimización de la economía personal impulsando un impacto económico y alimenticio positivo.</a:t>
            </a:r>
            <a:endParaRPr/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28837" y="297462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24550" y="297462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72637" y="2974627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305276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Nuestro Enfoque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619750" y="919162"/>
            <a:ext cx="952500" cy="2857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838325"/>
            <a:ext cx="52292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6381750" y="1996975"/>
            <a:ext cx="52292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SmartFood no se queda únicamente en el monitoreo. Gracias a la </a:t>
            </a:r>
            <a:r>
              <a:rPr b="1" i="0" lang="en-US" sz="1650" u="none" cap="none" strike="noStrike">
                <a:solidFill>
                  <a:srgbClr val="047857"/>
                </a:solidFill>
                <a:latin typeface="Outfit"/>
                <a:ea typeface="Outfit"/>
                <a:cs typeface="Outfit"/>
                <a:sym typeface="Outfit"/>
              </a:rPr>
              <a:t>Inteligencia Artificial</a:t>
            </a: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, la app trabaja para ti.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38325"/>
            <a:ext cx="52292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6858000" y="3240583"/>
            <a:ext cx="47529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47857"/>
                </a:solidFill>
                <a:latin typeface="Outfit"/>
                <a:ea typeface="Outfit"/>
                <a:cs typeface="Outfit"/>
                <a:sym typeface="Outfit"/>
              </a:rPr>
              <a:t>Recetas Personalizadas:</a:t>
            </a: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 Sugerencias basadas en los ingredientes que ya tienes en casa.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858000" y="4149030"/>
            <a:ext cx="47529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47857"/>
                </a:solidFill>
                <a:latin typeface="Outfit"/>
                <a:ea typeface="Outfit"/>
                <a:cs typeface="Outfit"/>
                <a:sym typeface="Outfit"/>
              </a:rPr>
              <a:t>100% Adaptable:</a:t>
            </a: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 Aprende de tus hábitos y preferencias alimenticias.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858000" y="5057477"/>
            <a:ext cx="47529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47857"/>
                </a:solidFill>
                <a:latin typeface="Outfit"/>
                <a:ea typeface="Outfit"/>
                <a:cs typeface="Outfit"/>
                <a:sym typeface="Outfit"/>
              </a:rPr>
              <a:t>Decisiones Inteligentes:</a:t>
            </a:r>
            <a:r>
              <a:rPr b="0" i="0" lang="en-US" sz="165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 Simplificamos la preparación de comida diaria.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278683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18713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509557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81025" y="5810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 Paso Más Allá: IA a tu Servicio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81025" y="1285875"/>
            <a:ext cx="11029950" cy="190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125" y="784026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700325" y="4498776"/>
            <a:ext cx="1079134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4785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Alimentación Práctica, Inteligente y Saludable.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809750" y="5327451"/>
            <a:ext cx="8572500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Reducimos desperdicios y gastos innecesarios, transformando tus hábitos para cuidar tu salud y tu bolsillo.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5325" y="860226"/>
            <a:ext cx="3181350" cy="31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/>
        </p:nvSpPr>
        <p:spPr>
          <a:xfrm>
            <a:off x="581025" y="1826121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81025" y="2610891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81025" y="3593752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81025" y="4576613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81025" y="260136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81025" y="260136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81025" y="358422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81025" y="358422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81025" y="456708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81025" y="456708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81025" y="535185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81025" y="535185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9755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1676400" y="1968996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https://images.template.net/323590/small-business-coffee-shop-template-ajatv.jpg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1676400" y="221471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www.template.net</a:t>
            </a:r>
            <a:endParaRPr/>
          </a:p>
        </p:txBody>
      </p:sp>
      <p:pic>
        <p:nvPicPr>
          <p:cNvPr descr="image.png"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594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1676400" y="2753766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https://static.vecteezy.com/system/resources/thumbnails/078/987/619/small_2x/stress-man-checking-smartphone-worried-about-online-payment-problem-and-financial-issues-at-home-stress-concept-showing-anxiety-over-banking-transaction-and-digital-finance-problems-in-modern-life-video.jpg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676400" y="319757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www.vecteezy.com</a:t>
            </a:r>
            <a:endParaRPr/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8422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1676400" y="3736627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https://static.vecteezy.com/system/resources/previews/065/960/715/non_2x/healthy-salad-in-white-bowl-pomegranate-seeds-avocado-basil-and-sprouts-light-blue-background-with-raspberries-fresh-food-and-clean-eating-concept-photo.jpeg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676400" y="418043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www.vecteezy.com</a:t>
            </a:r>
            <a:endParaRPr/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7260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1676400" y="471948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https://www.superhealthykids.com/wp-content/uploads/2018/06/meal-planner-screenshot-for-blogs-745x569.jpg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676400" y="496520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www.superhealthykids.com</a:t>
            </a:r>
            <a:endParaRPr/>
          </a:p>
        </p:txBody>
      </p:sp>
      <p:pic>
        <p:nvPicPr>
          <p:cNvPr descr="image.png" id="205" name="Google Shape;20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510807"/>
            <a:ext cx="1247775" cy="100548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1676400" y="5504259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https://cdn.dribbble.com/userupload/46284826/file/ad5bdf802dd4d1c3774aa2ad0c8e705d.png?resize=752x&amp;vertical=center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676400" y="574997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dribbble.com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581025" y="581025"/>
            <a:ext cx="1158144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64E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581025" y="1285875"/>
            <a:ext cx="11029950" cy="1905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